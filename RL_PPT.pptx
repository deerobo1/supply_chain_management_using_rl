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 autoCompressPictures="0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25" roundtripDataSignature="AMtx7mhKtsozFuFrjVLC8vzXJdHZNQP2x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9" d="100"/>
          <a:sy n="59" d="100"/>
        </p:scale>
        <p:origin x="940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customschemas.google.com/relationships/presentationmetadata" Target="meta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" name="Google Shape;5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" name="Google Shape;6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20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" name="Google Shape;67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" name="Google Shape;75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3e276a416aa_1_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" name="Google Shape;89;g3e276a416aa_1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6" name="Google Shape;96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4" name="Google Shape;104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e276a416aa_1_6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4" name="Google Shape;114;g3e276a416aa_1_6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3e276a416aa_1_8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0" name="Google Shape;120;g3e276a416aa_1_8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3e276a416aa_1_8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8" name="Google Shape;128;g3e276a416aa_1_8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3e276a416aa_1_9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6" name="Google Shape;136;g3e276a416aa_1_9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3e276a416aa_1_10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5" name="Google Shape;145;g3e276a416aa_1_1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3e276a416aa_1_11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3" name="Google Shape;153;g3e276a416aa_1_1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1" name="Google Shape;161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3e276a416aa_1_1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3" name="Google Shape;173;g3e276a416aa_1_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g3e276a416aa_1_3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1" name="Google Shape;181;g3e276a416aa_1_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g3e276a416aa_1_4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9" name="Google Shape;189;g3e276a416aa_1_4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g3e276a416aa_1_2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8" name="Google Shape;198;g3e276a416aa_1_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g3e276a416aa_1_5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8" name="Google Shape;208;g3e276a416aa_1_5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g3e276a416aa_1_12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6" name="Google Shape;216;g3e276a416aa_1_1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0" name="Google Shape;230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Slide">
  <p:cSld name="Title Slide"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9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214B8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" name="Google Shape;16;p9"/>
          <p:cNvSpPr txBox="1">
            <a:spLocks noGrp="1"/>
          </p:cNvSpPr>
          <p:nvPr>
            <p:ph type="ctrTitle"/>
          </p:nvPr>
        </p:nvSpPr>
        <p:spPr>
          <a:xfrm>
            <a:off x="1524000" y="485754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Bookman Old Style"/>
              <a:buNone/>
              <a:defRPr sz="6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9"/>
          <p:cNvSpPr txBox="1">
            <a:spLocks noGrp="1"/>
          </p:cNvSpPr>
          <p:nvPr>
            <p:ph type="subTitle" idx="1"/>
          </p:nvPr>
        </p:nvSpPr>
        <p:spPr>
          <a:xfrm>
            <a:off x="1524000" y="3148313"/>
            <a:ext cx="9144000" cy="14728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EDEAEA"/>
              </a:buClr>
              <a:buSzPts val="2800"/>
              <a:buNone/>
              <a:defRPr sz="2800">
                <a:solidFill>
                  <a:srgbClr val="EDEAEA"/>
                </a:solidFill>
              </a:defRPr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0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9428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14B8C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10"/>
          <p:cNvSpPr txBox="1">
            <a:spLocks noGrp="1"/>
          </p:cNvSpPr>
          <p:nvPr>
            <p:ph type="body" idx="1"/>
          </p:nvPr>
        </p:nvSpPr>
        <p:spPr>
          <a:xfrm>
            <a:off x="838200" y="1634250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10"/>
          <p:cNvSpPr txBox="1">
            <a:spLocks noGrp="1"/>
          </p:cNvSpPr>
          <p:nvPr>
            <p:ph type="body" idx="2"/>
          </p:nvPr>
        </p:nvSpPr>
        <p:spPr>
          <a:xfrm>
            <a:off x="6172200" y="1634250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5" name="Google Shape;25;p10"/>
          <p:cNvSpPr txBox="1">
            <a:spLocks noGrp="1"/>
          </p:cNvSpPr>
          <p:nvPr>
            <p:ph type="sldNum" idx="12"/>
          </p:nvPr>
        </p:nvSpPr>
        <p:spPr>
          <a:xfrm>
            <a:off x="10393047" y="6311899"/>
            <a:ext cx="150087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11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94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14B8C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11"/>
          <p:cNvSpPr txBox="1">
            <a:spLocks noGrp="1"/>
          </p:cNvSpPr>
          <p:nvPr>
            <p:ph type="body" idx="1"/>
          </p:nvPr>
        </p:nvSpPr>
        <p:spPr>
          <a:xfrm>
            <a:off x="838200" y="1511107"/>
            <a:ext cx="10515600" cy="43688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9" name="Google Shape;29;p11"/>
          <p:cNvSpPr txBox="1">
            <a:spLocks noGrp="1"/>
          </p:cNvSpPr>
          <p:nvPr>
            <p:ph type="sldNum" idx="12"/>
          </p:nvPr>
        </p:nvSpPr>
        <p:spPr>
          <a:xfrm>
            <a:off x="10370916" y="6311899"/>
            <a:ext cx="15230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2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r">
              <a:spcBef>
                <a:spcPts val="0"/>
              </a:spcBef>
              <a:buNone/>
              <a:defRPr sz="2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r">
              <a:spcBef>
                <a:spcPts val="0"/>
              </a:spcBef>
              <a:buNone/>
              <a:defRPr sz="2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r">
              <a:spcBef>
                <a:spcPts val="0"/>
              </a:spcBef>
              <a:buNone/>
              <a:defRPr sz="2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r">
              <a:spcBef>
                <a:spcPts val="0"/>
              </a:spcBef>
              <a:buNone/>
              <a:defRPr sz="2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r">
              <a:spcBef>
                <a:spcPts val="0"/>
              </a:spcBef>
              <a:buNone/>
              <a:defRPr sz="2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r">
              <a:spcBef>
                <a:spcPts val="0"/>
              </a:spcBef>
              <a:buNone/>
              <a:defRPr sz="2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r">
              <a:spcBef>
                <a:spcPts val="0"/>
              </a:spcBef>
              <a:buNone/>
              <a:defRPr sz="2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r">
              <a:spcBef>
                <a:spcPts val="0"/>
              </a:spcBef>
              <a:buNone/>
              <a:defRPr sz="2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12"/>
          <p:cNvSpPr txBox="1">
            <a:spLocks noGrp="1"/>
          </p:cNvSpPr>
          <p:nvPr>
            <p:ph type="title"/>
          </p:nvPr>
        </p:nvSpPr>
        <p:spPr>
          <a:xfrm>
            <a:off x="831850" y="1593991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14B8C"/>
              </a:buClr>
              <a:buSzPts val="6000"/>
              <a:buFont typeface="Bookman Old Style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12"/>
          <p:cNvSpPr txBox="1">
            <a:spLocks noGrp="1"/>
          </p:cNvSpPr>
          <p:nvPr>
            <p:ph type="body" idx="1"/>
          </p:nvPr>
        </p:nvSpPr>
        <p:spPr>
          <a:xfrm>
            <a:off x="831850" y="4473716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3" name="Google Shape;33;p12"/>
          <p:cNvSpPr txBox="1">
            <a:spLocks noGrp="1"/>
          </p:cNvSpPr>
          <p:nvPr>
            <p:ph type="sldNum" idx="12"/>
          </p:nvPr>
        </p:nvSpPr>
        <p:spPr>
          <a:xfrm>
            <a:off x="10393047" y="6311899"/>
            <a:ext cx="150087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4" name="Google Shape;34;p12"/>
          <p:cNvSpPr txBox="1"/>
          <p:nvPr/>
        </p:nvSpPr>
        <p:spPr>
          <a:xfrm>
            <a:off x="3570605" y="6308725"/>
            <a:ext cx="2440305" cy="36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HiRTO</a:t>
            </a:r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13"/>
          <p:cNvSpPr txBox="1">
            <a:spLocks noGrp="1"/>
          </p:cNvSpPr>
          <p:nvPr>
            <p:ph type="title"/>
          </p:nvPr>
        </p:nvSpPr>
        <p:spPr>
          <a:xfrm>
            <a:off x="839788" y="365124"/>
            <a:ext cx="10515600" cy="94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14B8C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13"/>
          <p:cNvSpPr txBox="1">
            <a:spLocks noGrp="1"/>
          </p:cNvSpPr>
          <p:nvPr>
            <p:ph type="body" idx="1"/>
          </p:nvPr>
        </p:nvSpPr>
        <p:spPr>
          <a:xfrm>
            <a:off x="839788" y="1555861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38" name="Google Shape;38;p13"/>
          <p:cNvSpPr txBox="1">
            <a:spLocks noGrp="1"/>
          </p:cNvSpPr>
          <p:nvPr>
            <p:ph type="body" idx="2"/>
          </p:nvPr>
        </p:nvSpPr>
        <p:spPr>
          <a:xfrm>
            <a:off x="839788" y="2379773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9" name="Google Shape;39;p13"/>
          <p:cNvSpPr txBox="1">
            <a:spLocks noGrp="1"/>
          </p:cNvSpPr>
          <p:nvPr>
            <p:ph type="body" idx="3"/>
          </p:nvPr>
        </p:nvSpPr>
        <p:spPr>
          <a:xfrm>
            <a:off x="6172200" y="1555861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0" name="Google Shape;40;p13"/>
          <p:cNvSpPr txBox="1">
            <a:spLocks noGrp="1"/>
          </p:cNvSpPr>
          <p:nvPr>
            <p:ph type="body" idx="4"/>
          </p:nvPr>
        </p:nvSpPr>
        <p:spPr>
          <a:xfrm>
            <a:off x="6172200" y="2379773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1" name="Google Shape;41;p13"/>
          <p:cNvSpPr txBox="1">
            <a:spLocks noGrp="1"/>
          </p:cNvSpPr>
          <p:nvPr>
            <p:ph type="sldNum" idx="12"/>
          </p:nvPr>
        </p:nvSpPr>
        <p:spPr>
          <a:xfrm>
            <a:off x="10393047" y="6311899"/>
            <a:ext cx="150087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14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9428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14B8C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14"/>
          <p:cNvSpPr txBox="1">
            <a:spLocks noGrp="1"/>
          </p:cNvSpPr>
          <p:nvPr>
            <p:ph type="sldNum" idx="12"/>
          </p:nvPr>
        </p:nvSpPr>
        <p:spPr>
          <a:xfrm>
            <a:off x="10393047" y="6311899"/>
            <a:ext cx="150087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5"/>
          <p:cNvSpPr txBox="1">
            <a:spLocks noGrp="1"/>
          </p:cNvSpPr>
          <p:nvPr>
            <p:ph type="sldNum" idx="12"/>
          </p:nvPr>
        </p:nvSpPr>
        <p:spPr>
          <a:xfrm>
            <a:off x="10393047" y="6311899"/>
            <a:ext cx="150087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6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14B8C"/>
              </a:buClr>
              <a:buSzPts val="3200"/>
              <a:buFont typeface="Bookman Old Style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16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0" name="Google Shape;50;p16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51" name="Google Shape;51;p16"/>
          <p:cNvSpPr txBox="1">
            <a:spLocks noGrp="1"/>
          </p:cNvSpPr>
          <p:nvPr>
            <p:ph type="sldNum" idx="12"/>
          </p:nvPr>
        </p:nvSpPr>
        <p:spPr>
          <a:xfrm>
            <a:off x="10393047" y="6311899"/>
            <a:ext cx="150087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7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14B8C"/>
              </a:buClr>
              <a:buSzPts val="3200"/>
              <a:buFont typeface="Bookman Old Style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17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55" name="Google Shape;55;p17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56" name="Google Shape;56;p17"/>
          <p:cNvSpPr txBox="1">
            <a:spLocks noGrp="1"/>
          </p:cNvSpPr>
          <p:nvPr>
            <p:ph type="sldNum" idx="12"/>
          </p:nvPr>
        </p:nvSpPr>
        <p:spPr>
          <a:xfrm>
            <a:off x="10393047" y="6311899"/>
            <a:ext cx="150087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8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9428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14B8C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18"/>
          <p:cNvSpPr txBox="1">
            <a:spLocks noGrp="1"/>
          </p:cNvSpPr>
          <p:nvPr>
            <p:ph type="body" idx="1"/>
          </p:nvPr>
        </p:nvSpPr>
        <p:spPr>
          <a:xfrm rot="5400000">
            <a:off x="3911584" y="-1562277"/>
            <a:ext cx="4368832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0" name="Google Shape;60;p18"/>
          <p:cNvSpPr txBox="1">
            <a:spLocks noGrp="1"/>
          </p:cNvSpPr>
          <p:nvPr>
            <p:ph type="sldNum" idx="12"/>
          </p:nvPr>
        </p:nvSpPr>
        <p:spPr>
          <a:xfrm>
            <a:off x="10393047" y="6311899"/>
            <a:ext cx="150087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9"/>
          <p:cNvSpPr txBox="1">
            <a:spLocks noGrp="1"/>
          </p:cNvSpPr>
          <p:nvPr>
            <p:ph type="title"/>
          </p:nvPr>
        </p:nvSpPr>
        <p:spPr>
          <a:xfrm rot="5400000">
            <a:off x="7133431" y="1782969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14B8C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9"/>
          <p:cNvSpPr txBox="1">
            <a:spLocks noGrp="1"/>
          </p:cNvSpPr>
          <p:nvPr>
            <p:ph type="body" idx="1"/>
          </p:nvPr>
        </p:nvSpPr>
        <p:spPr>
          <a:xfrm rot="5400000">
            <a:off x="1799431" y="-769731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4" name="Google Shape;64;p19"/>
          <p:cNvSpPr txBox="1">
            <a:spLocks noGrp="1"/>
          </p:cNvSpPr>
          <p:nvPr>
            <p:ph type="sldNum" idx="12"/>
          </p:nvPr>
        </p:nvSpPr>
        <p:spPr>
          <a:xfrm>
            <a:off x="10393047" y="6311899"/>
            <a:ext cx="150087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8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9428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14B8C"/>
              </a:buClr>
              <a:buSzPts val="3600"/>
              <a:buFont typeface="Bookman Old Style"/>
              <a:buNone/>
              <a:defRPr sz="3600" b="0" i="0" u="none" strike="noStrike" cap="none">
                <a:solidFill>
                  <a:srgbClr val="214B8C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0" name="Google Shape;10;p8"/>
          <p:cNvSpPr txBox="1">
            <a:spLocks noGrp="1"/>
          </p:cNvSpPr>
          <p:nvPr>
            <p:ph type="body" idx="1"/>
          </p:nvPr>
        </p:nvSpPr>
        <p:spPr>
          <a:xfrm>
            <a:off x="838200" y="1511107"/>
            <a:ext cx="10515600" cy="43688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cxnSp>
        <p:nvCxnSpPr>
          <p:cNvPr id="13" name="Google Shape;13;p8"/>
          <p:cNvCxnSpPr/>
          <p:nvPr/>
        </p:nvCxnSpPr>
        <p:spPr>
          <a:xfrm>
            <a:off x="3472405" y="6227180"/>
            <a:ext cx="0" cy="54401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</p:cxn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15.png"/><Relationship Id="rId7" Type="http://schemas.openxmlformats.org/officeDocument/2006/relationships/image" Target="../media/image19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4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"/>
          <p:cNvSpPr txBox="1">
            <a:spLocks noGrp="1"/>
          </p:cNvSpPr>
          <p:nvPr>
            <p:ph type="ctrTitle"/>
          </p:nvPr>
        </p:nvSpPr>
        <p:spPr>
          <a:xfrm>
            <a:off x="1524000" y="485754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Times New Roman"/>
              <a:buNone/>
            </a:pPr>
            <a:r>
              <a:rPr lang="en-US" sz="4200" dirty="0">
                <a:latin typeface="Times New Roman"/>
                <a:ea typeface="Times New Roman"/>
                <a:cs typeface="Times New Roman"/>
                <a:sym typeface="Times New Roman"/>
              </a:rPr>
              <a:t>Supply Chain Inventory Management using Deep RL</a:t>
            </a:r>
            <a:endParaRPr dirty="0"/>
          </a:p>
        </p:txBody>
      </p:sp>
      <p:sp>
        <p:nvSpPr>
          <p:cNvPr id="70" name="Google Shape;70;p1"/>
          <p:cNvSpPr txBox="1">
            <a:spLocks noGrp="1"/>
          </p:cNvSpPr>
          <p:nvPr>
            <p:ph type="subTitle" idx="1"/>
          </p:nvPr>
        </p:nvSpPr>
        <p:spPr>
          <a:xfrm>
            <a:off x="1524625" y="2748280"/>
            <a:ext cx="9144000" cy="214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 rtl="0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Clr>
                <a:srgbClr val="EDEAEA"/>
              </a:buClr>
              <a:buSzPts val="2800"/>
              <a:buNone/>
            </a:pPr>
            <a:r>
              <a:rPr lang="en-US" sz="2200" dirty="0">
                <a:latin typeface="Times New Roman"/>
                <a:ea typeface="Times New Roman"/>
                <a:cs typeface="Times New Roman"/>
                <a:sym typeface="Times New Roman"/>
              </a:rPr>
              <a:t>Reinforcement Learning</a:t>
            </a:r>
          </a:p>
          <a:p>
            <a:pPr marL="0" lvl="0" indent="0" algn="ctr" rtl="0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Clr>
                <a:srgbClr val="EDEAEA"/>
              </a:buClr>
              <a:buSzPts val="2800"/>
              <a:buNone/>
            </a:pPr>
            <a:endParaRPr lang="en-US" sz="220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ctr" rtl="0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Clr>
                <a:srgbClr val="EDEAEA"/>
              </a:buClr>
              <a:buSzPts val="2800"/>
              <a:buNone/>
            </a:pPr>
            <a:r>
              <a:rPr lang="en-US" sz="2200" dirty="0">
                <a:latin typeface="Times New Roman"/>
                <a:ea typeface="Times New Roman"/>
                <a:cs typeface="Times New Roman"/>
                <a:sym typeface="Times New Roman"/>
              </a:rPr>
              <a:t>Deetya Ashish Mehta</a:t>
            </a:r>
            <a:endParaRPr sz="2200"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2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9428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14B8C"/>
              </a:buClr>
              <a:buSzPts val="3600"/>
              <a:buFont typeface="Times New Roman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Problem Statement</a:t>
            </a:r>
            <a:endParaRPr/>
          </a:p>
        </p:txBody>
      </p:sp>
      <p:sp>
        <p:nvSpPr>
          <p:cNvPr id="78" name="Google Shape;78;p2"/>
          <p:cNvSpPr txBox="1">
            <a:spLocks noGrp="1"/>
          </p:cNvSpPr>
          <p:nvPr>
            <p:ph type="body" idx="1"/>
          </p:nvPr>
        </p:nvSpPr>
        <p:spPr>
          <a:xfrm>
            <a:off x="466090" y="1634490"/>
            <a:ext cx="11228070" cy="43516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57200" lvl="0" indent="-38100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Char char="•"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Too much stock =&gt; excess holding costs, tied up capital.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8100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Char char="•"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Too little stock =&gt; stockouts, lost revenue, customer churn.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8100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Char char="•"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Traditional methods (EOQ, reorder-point) assume stationary demand. They fail under noisy, real world conditions.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8100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Char char="•"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Demand data is stochastic: seasonal spikes, supply disruptions and promotions violate static assumptions.</a:t>
            </a:r>
            <a:b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8100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Char char="•"/>
            </a:pPr>
            <a:r>
              <a:rPr lang="en-US" sz="2400" b="1">
                <a:latin typeface="Times New Roman"/>
                <a:ea typeface="Times New Roman"/>
                <a:cs typeface="Times New Roman"/>
                <a:sym typeface="Times New Roman"/>
              </a:rPr>
              <a:t>OBJECTIVE</a:t>
            </a: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: Learn an ordering policy that maximizes cumulative profit while keeping stockout frequency low.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3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9428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14B8C"/>
              </a:buClr>
              <a:buSzPts val="3600"/>
              <a:buFont typeface="Times New Roman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Existing Approaches - Classical &amp; RL Methods </a:t>
            </a:r>
            <a:endParaRPr/>
          </a:p>
        </p:txBody>
      </p:sp>
      <p:sp>
        <p:nvSpPr>
          <p:cNvPr id="85" name="Google Shape;85;p3"/>
          <p:cNvSpPr txBox="1">
            <a:spLocks noGrp="1"/>
          </p:cNvSpPr>
          <p:nvPr>
            <p:ph type="body" idx="1"/>
          </p:nvPr>
        </p:nvSpPr>
        <p:spPr>
          <a:xfrm>
            <a:off x="838200" y="1447000"/>
            <a:ext cx="10955700" cy="453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 b="1">
                <a:latin typeface="Times New Roman"/>
                <a:ea typeface="Times New Roman"/>
                <a:cs typeface="Times New Roman"/>
                <a:sym typeface="Times New Roman"/>
              </a:rPr>
              <a:t>Classical OR:</a:t>
            </a:r>
            <a:endParaRPr sz="2400" b="1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685800" lvl="1" indent="-2667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Char char="•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EOQ / (s,S) Policy: Wilson(1913) / Arrow et al.(1951) - closed form formulae; optimality only under stationary Gaussian demand.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685800" lvl="1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Font typeface="Times New Roman"/>
              <a:buChar char="•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Newsvendor Model: Single period stochastic demand solved analytically; fails for multi period; lost sales settings.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685800" lvl="1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Font typeface="Times New Roman"/>
              <a:buChar char="•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MILP / Stochastic Demand: Exact optimization but NP-hard at scale; computationally infeasible for long horizons.</a:t>
            </a:r>
            <a:b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</a:b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Font typeface="Times New Roman"/>
              <a:buChar char="•"/>
            </a:pPr>
            <a:r>
              <a:rPr lang="en-US" b="1">
                <a:latin typeface="Times New Roman"/>
                <a:ea typeface="Times New Roman"/>
                <a:cs typeface="Times New Roman"/>
                <a:sym typeface="Times New Roman"/>
              </a:rPr>
              <a:t>Tabular RL:</a:t>
            </a:r>
            <a:endParaRPr b="1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685800" lvl="1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Font typeface="Times New Roman"/>
              <a:buChar char="•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Q-Learning(Watkins 1989): Discrete state-action table; converges to optimal policy for small MDPs. (Our baseline)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685800" lvl="1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Font typeface="Times New Roman"/>
              <a:buChar char="•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SARSA: On-policy variant; more conservative but slower convergence than Q-Learning.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3e276a416aa_1_0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9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14B8C"/>
              </a:buClr>
              <a:buSzPts val="3600"/>
              <a:buFont typeface="Times New Roman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Existing Approaches - Classical &amp; RL Methods </a:t>
            </a:r>
            <a:endParaRPr/>
          </a:p>
        </p:txBody>
      </p:sp>
      <p:sp>
        <p:nvSpPr>
          <p:cNvPr id="92" name="Google Shape;92;g3e276a416aa_1_0"/>
          <p:cNvSpPr txBox="1">
            <a:spLocks noGrp="1"/>
          </p:cNvSpPr>
          <p:nvPr>
            <p:ph type="body" idx="1"/>
          </p:nvPr>
        </p:nvSpPr>
        <p:spPr>
          <a:xfrm>
            <a:off x="838200" y="1447000"/>
            <a:ext cx="10955700" cy="453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 b="1">
                <a:latin typeface="Times New Roman"/>
                <a:ea typeface="Times New Roman"/>
                <a:cs typeface="Times New Roman"/>
                <a:sym typeface="Times New Roman"/>
              </a:rPr>
              <a:t>Deep RL:</a:t>
            </a:r>
            <a:endParaRPr sz="2400" b="1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685800" lvl="1" indent="-2667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Char char="•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DQN(Mnih et al. 2015): Experience replay + target network stabilise training; first scalable value-based Deep RL.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685800" lvl="1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Font typeface="Times New Roman"/>
              <a:buChar char="•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LSTM-DQN(Hausknecht &amp; Stone 2015): Adds recurrent memory to handle partial observability / demand truths.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685800" lvl="1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Font typeface="Times New Roman"/>
              <a:buChar char="•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PPO(Schulman et al. 2017): Clipped surrogate objective prevents catastrophic policy updates; state-of-the-art policy gradient.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685800" lvl="1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Font typeface="Times New Roman"/>
              <a:buChar char="•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A3C/VPG: Asynchronous actor-critic and vanilla PG - predecessors to PPO; higher variance.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4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9428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14B8C"/>
              </a:buClr>
              <a:buSzPts val="3600"/>
              <a:buFont typeface="Times New Roman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Gap in Literature and Our Contribution</a:t>
            </a:r>
            <a:endParaRPr/>
          </a:p>
        </p:txBody>
      </p:sp>
      <p:pic>
        <p:nvPicPr>
          <p:cNvPr id="100" name="Google Shape;100;p4" title="Screenshot 2026-05-16 103708.png"/>
          <p:cNvPicPr preferRelativeResize="0"/>
          <p:nvPr/>
        </p:nvPicPr>
        <p:blipFill rotWithShape="1">
          <a:blip r:embed="rId3">
            <a:alphaModFix/>
          </a:blip>
          <a:srcRect l="961" b="17239"/>
          <a:stretch/>
        </p:blipFill>
        <p:spPr>
          <a:xfrm>
            <a:off x="737925" y="1422000"/>
            <a:ext cx="4981175" cy="38892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" name="Google Shape;101;p4" title="Screenshot 2026-05-16 103912.png"/>
          <p:cNvPicPr preferRelativeResize="0"/>
          <p:nvPr/>
        </p:nvPicPr>
        <p:blipFill rotWithShape="1">
          <a:blip r:embed="rId4">
            <a:alphaModFix/>
          </a:blip>
          <a:srcRect l="1497" b="17239"/>
          <a:stretch/>
        </p:blipFill>
        <p:spPr>
          <a:xfrm>
            <a:off x="6013325" y="1422000"/>
            <a:ext cx="4898226" cy="3889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5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9428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14B8C"/>
              </a:buClr>
              <a:buSzPts val="3600"/>
              <a:buFont typeface="Times New Roman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MDP Formulation - State, Action, Reward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08" name="Google Shape;108;p5" title="Screenshot 2026-05-16 104221.png"/>
          <p:cNvPicPr preferRelativeResize="0"/>
          <p:nvPr/>
        </p:nvPicPr>
        <p:blipFill rotWithShape="1">
          <a:blip r:embed="rId3">
            <a:alphaModFix/>
          </a:blip>
          <a:srcRect l="2997" b="31243"/>
          <a:stretch/>
        </p:blipFill>
        <p:spPr>
          <a:xfrm>
            <a:off x="258325" y="1460350"/>
            <a:ext cx="3427850" cy="1683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9" name="Google Shape;109;p5" title="Screenshot 2026-05-16 104331.png"/>
          <p:cNvPicPr preferRelativeResize="0"/>
          <p:nvPr/>
        </p:nvPicPr>
        <p:blipFill rotWithShape="1">
          <a:blip r:embed="rId4">
            <a:alphaModFix/>
          </a:blip>
          <a:srcRect l="2997" b="31243"/>
          <a:stretch/>
        </p:blipFill>
        <p:spPr>
          <a:xfrm>
            <a:off x="4198888" y="1460350"/>
            <a:ext cx="3427850" cy="1683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0" name="Google Shape;110;p5" title="Screenshot 2026-05-16 104433.png"/>
          <p:cNvPicPr preferRelativeResize="0"/>
          <p:nvPr/>
        </p:nvPicPr>
        <p:blipFill rotWithShape="1">
          <a:blip r:embed="rId5">
            <a:alphaModFix/>
          </a:blip>
          <a:srcRect l="2997" b="30973"/>
          <a:stretch/>
        </p:blipFill>
        <p:spPr>
          <a:xfrm>
            <a:off x="8139450" y="1460350"/>
            <a:ext cx="3427850" cy="1683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" name="Google Shape;111;p5" title="Screenshot 2026-05-16 104619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38175" y="3458950"/>
            <a:ext cx="10915650" cy="2114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3e276a416aa_1_66"/>
          <p:cNvSpPr txBox="1">
            <a:spLocks noGrp="1"/>
          </p:cNvSpPr>
          <p:nvPr>
            <p:ph type="title"/>
          </p:nvPr>
        </p:nvSpPr>
        <p:spPr>
          <a:xfrm>
            <a:off x="838200" y="2273851"/>
            <a:ext cx="10515600" cy="9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14B8C"/>
              </a:buClr>
              <a:buSzPts val="3600"/>
              <a:buFont typeface="Times New Roman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Early Implementations &amp; Exploratory Work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3e276a416aa_1_81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9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14B8C"/>
              </a:buClr>
              <a:buSzPts val="3600"/>
              <a:buFont typeface="Times New Roman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Environment Design: Discrete vs Continuous</a:t>
            </a:r>
            <a:endParaRPr/>
          </a:p>
        </p:txBody>
      </p:sp>
      <p:sp>
        <p:nvSpPr>
          <p:cNvPr id="123" name="Google Shape;123;g3e276a416aa_1_81"/>
          <p:cNvSpPr txBox="1">
            <a:spLocks noGrp="1"/>
          </p:cNvSpPr>
          <p:nvPr>
            <p:ph type="body" idx="1"/>
          </p:nvPr>
        </p:nvSpPr>
        <p:spPr>
          <a:xfrm>
            <a:off x="838200" y="1447000"/>
            <a:ext cx="4647600" cy="44931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28600" lvl="0" indent="-1905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 sz="1800" b="1">
                <a:latin typeface="Times New Roman"/>
                <a:ea typeface="Times New Roman"/>
                <a:cs typeface="Times New Roman"/>
                <a:sym typeface="Times New Roman"/>
              </a:rPr>
              <a:t>Discrete Env(Q-Learning / TD(0)):</a:t>
            </a:r>
            <a:br>
              <a:rPr lang="en-US" sz="1800" b="1"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1300" i="1">
                <a:latin typeface="Times New Roman"/>
                <a:ea typeface="Times New Roman"/>
                <a:cs typeface="Times New Roman"/>
                <a:sym typeface="Times New Roman"/>
              </a:rPr>
              <a:t>simple_supply_chain_qlearning.py</a:t>
            </a:r>
            <a:br>
              <a:rPr lang="en-US" sz="1300" i="1"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1300" i="1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685800" lvl="1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Font typeface="Times New Roman"/>
              <a:buChar char="•"/>
            </a:pP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State space: 63 hand-crafted states</a:t>
            </a:r>
            <a:b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685800" lvl="1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Font typeface="Times New Roman"/>
              <a:buChar char="•"/>
            </a:pP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3 inventory bins x 3 demand bins x 7 day-of-week</a:t>
            </a:r>
            <a:b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685800" lvl="1" indent="-228600" algn="l" rtl="0">
              <a:spcBef>
                <a:spcPts val="0"/>
              </a:spcBef>
              <a:spcAft>
                <a:spcPts val="0"/>
              </a:spcAft>
              <a:buSzPts val="1800"/>
              <a:buFont typeface="Times New Roman"/>
              <a:buChar char="•"/>
            </a:pP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Actions: {0,200,400,600} units</a:t>
            </a:r>
            <a:b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685800" lvl="1" indent="-228600" algn="l" rtl="0">
              <a:spcBef>
                <a:spcPts val="0"/>
              </a:spcBef>
              <a:spcAft>
                <a:spcPts val="0"/>
              </a:spcAft>
              <a:buSzPts val="1800"/>
              <a:buFont typeface="Times New Roman"/>
              <a:buChar char="•"/>
            </a:pP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Reward: revenue - $2/unit holding - $15/unit stockout - $100 order cost</a:t>
            </a:r>
            <a:b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685800" lvl="1" indent="-228600" algn="l" rtl="0">
              <a:spcBef>
                <a:spcPts val="0"/>
              </a:spcBef>
              <a:spcAft>
                <a:spcPts val="0"/>
              </a:spcAft>
              <a:buSzPts val="1800"/>
              <a:buFont typeface="Times New Roman"/>
              <a:buChar char="•"/>
            </a:pP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Limitation: inventory 201 and 499 look identical to the agent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5" name="Google Shape;125;g3e276a416aa_1_81"/>
          <p:cNvSpPr txBox="1">
            <a:spLocks noGrp="1"/>
          </p:cNvSpPr>
          <p:nvPr>
            <p:ph type="body" idx="1"/>
          </p:nvPr>
        </p:nvSpPr>
        <p:spPr>
          <a:xfrm>
            <a:off x="6306300" y="1447000"/>
            <a:ext cx="4647600" cy="44931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28600" lvl="0" indent="-1905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 sz="1800" b="1">
                <a:latin typeface="Times New Roman"/>
                <a:ea typeface="Times New Roman"/>
                <a:cs typeface="Times New Roman"/>
                <a:sym typeface="Times New Roman"/>
              </a:rPr>
              <a:t>Continuous Env(PPO):</a:t>
            </a:r>
            <a:br>
              <a:rPr lang="en-US" sz="1800" b="1"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1300" i="1">
                <a:latin typeface="Times New Roman"/>
                <a:ea typeface="Times New Roman"/>
                <a:cs typeface="Times New Roman"/>
                <a:sym typeface="Times New Roman"/>
              </a:rPr>
              <a:t>envs/inventory_env.py</a:t>
            </a:r>
            <a:br>
              <a:rPr lang="en-US" sz="1300" i="1"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1300" i="1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685800" lvl="1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Font typeface="Times New Roman"/>
              <a:buChar char="•"/>
            </a:pPr>
            <a:r>
              <a:rPr lang="en-US" sz="1800" b="1">
                <a:latin typeface="Times New Roman"/>
                <a:ea typeface="Times New Roman"/>
                <a:cs typeface="Times New Roman"/>
                <a:sym typeface="Times New Roman"/>
              </a:rPr>
              <a:t>4D Observation vector(normalised): </a:t>
            </a:r>
            <a:br>
              <a:rPr lang="en-US" sz="1800" b="1"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=&gt;inventory level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68580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=&gt;7 day average demand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68580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=&gt;sin(day-of-week) &amp; cos(day-of-week)</a:t>
            </a:r>
            <a:b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685800" lvl="1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Font typeface="Times New Roman"/>
              <a:buChar char="•"/>
            </a:pP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Sinusoidal encoding avoids Day 6 =&gt; Day 0 discontinuity.</a:t>
            </a:r>
            <a:b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685800" lvl="1" indent="-228600" algn="l" rtl="0">
              <a:spcBef>
                <a:spcPts val="0"/>
              </a:spcBef>
              <a:spcAft>
                <a:spcPts val="0"/>
              </a:spcAft>
              <a:buSzPts val="1800"/>
              <a:buFont typeface="Times New Roman"/>
              <a:buChar char="•"/>
            </a:pP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Enables neural net to learn smooth periodic patterns.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3e276a416aa_1_89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9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14B8C"/>
              </a:buClr>
              <a:buSzPct val="100000"/>
              <a:buFont typeface="Times New Roman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TD(0) State-Value Estimator &amp; Epsilon-Greedy Exploration</a:t>
            </a:r>
            <a:endParaRPr/>
          </a:p>
        </p:txBody>
      </p:sp>
      <p:pic>
        <p:nvPicPr>
          <p:cNvPr id="132" name="Google Shape;132;g3e276a416aa_1_89" title="Screenshot 2026-05-16 115259.png"/>
          <p:cNvPicPr preferRelativeResize="0"/>
          <p:nvPr/>
        </p:nvPicPr>
        <p:blipFill rotWithShape="1">
          <a:blip r:embed="rId3">
            <a:alphaModFix/>
          </a:blip>
          <a:srcRect l="774"/>
          <a:stretch/>
        </p:blipFill>
        <p:spPr>
          <a:xfrm>
            <a:off x="670775" y="1211050"/>
            <a:ext cx="4945925" cy="4699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3" name="Google Shape;133;g3e276a416aa_1_89" title="Screenshot 2026-05-16 115352.png"/>
          <p:cNvPicPr preferRelativeResize="0"/>
          <p:nvPr/>
        </p:nvPicPr>
        <p:blipFill rotWithShape="1">
          <a:blip r:embed="rId4">
            <a:alphaModFix/>
          </a:blip>
          <a:srcRect l="1000"/>
          <a:stretch/>
        </p:blipFill>
        <p:spPr>
          <a:xfrm>
            <a:off x="6109225" y="1211050"/>
            <a:ext cx="5181100" cy="4699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3e276a416aa_1_98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9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14B8C"/>
              </a:buClr>
              <a:buSzPct val="100000"/>
              <a:buFont typeface="Times New Roman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Linear Regression - Supervised Demand Forecasting Baseline</a:t>
            </a:r>
            <a:endParaRPr/>
          </a:p>
        </p:txBody>
      </p:sp>
      <p:pic>
        <p:nvPicPr>
          <p:cNvPr id="140" name="Google Shape;140;g3e276a416aa_1_98" title="Screenshot 2026-05-16 115611.png"/>
          <p:cNvPicPr preferRelativeResize="0"/>
          <p:nvPr/>
        </p:nvPicPr>
        <p:blipFill rotWithShape="1">
          <a:blip r:embed="rId3">
            <a:alphaModFix/>
          </a:blip>
          <a:srcRect l="626"/>
          <a:stretch/>
        </p:blipFill>
        <p:spPr>
          <a:xfrm>
            <a:off x="440575" y="1163075"/>
            <a:ext cx="6092025" cy="4699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1" name="Google Shape;141;g3e276a416aa_1_98" title="Screenshot 2026-05-16 115703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972750" y="1163076"/>
            <a:ext cx="4171950" cy="2286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2" name="Google Shape;142;g3e276a416aa_1_98" title="Screenshot 2026-05-16 115733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953700" y="3572701"/>
            <a:ext cx="4210050" cy="2381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3e276a416aa_1_108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9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14B8C"/>
              </a:buClr>
              <a:buSzPts val="3600"/>
              <a:buFont typeface="Times New Roman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PPO - Early Implementation</a:t>
            </a:r>
            <a:endParaRPr/>
          </a:p>
        </p:txBody>
      </p:sp>
      <p:pic>
        <p:nvPicPr>
          <p:cNvPr id="149" name="Google Shape;149;g3e276a416aa_1_108" title="Screenshot 2026-05-16 115933.png"/>
          <p:cNvPicPr preferRelativeResize="0"/>
          <p:nvPr/>
        </p:nvPicPr>
        <p:blipFill rotWithShape="1">
          <a:blip r:embed="rId3">
            <a:alphaModFix/>
          </a:blip>
          <a:srcRect l="970"/>
          <a:stretch/>
        </p:blipFill>
        <p:spPr>
          <a:xfrm>
            <a:off x="661175" y="1201450"/>
            <a:ext cx="4927125" cy="4699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0" name="Google Shape;150;g3e276a416aa_1_108" title="Screenshot 2026-05-16 120022.png"/>
          <p:cNvPicPr preferRelativeResize="0"/>
          <p:nvPr/>
        </p:nvPicPr>
        <p:blipFill rotWithShape="1">
          <a:blip r:embed="rId4">
            <a:alphaModFix/>
          </a:blip>
          <a:srcRect b="1932"/>
          <a:stretch/>
        </p:blipFill>
        <p:spPr>
          <a:xfrm>
            <a:off x="6152875" y="1201450"/>
            <a:ext cx="5200925" cy="46084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3e276a416aa_1_118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9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14B8C"/>
              </a:buClr>
              <a:buSzPts val="3600"/>
              <a:buFont typeface="Times New Roman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Early Implementation Component Comparison</a:t>
            </a:r>
            <a:endParaRPr/>
          </a:p>
        </p:txBody>
      </p:sp>
      <p:pic>
        <p:nvPicPr>
          <p:cNvPr id="157" name="Google Shape;157;g3e276a416aa_1_118" title="Screenshot 2026-05-16 120228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33413" y="1238251"/>
            <a:ext cx="10925175" cy="4381500"/>
          </a:xfrm>
          <a:prstGeom prst="rect">
            <a:avLst/>
          </a:prstGeom>
          <a:noFill/>
          <a:ln>
            <a:noFill/>
          </a:ln>
        </p:spPr>
      </p:pic>
      <p:sp>
        <p:nvSpPr>
          <p:cNvPr id="158" name="Google Shape;158;g3e276a416aa_1_118"/>
          <p:cNvSpPr txBox="1"/>
          <p:nvPr/>
        </p:nvSpPr>
        <p:spPr>
          <a:xfrm>
            <a:off x="618450" y="5571450"/>
            <a:ext cx="10955100" cy="41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i="1">
                <a:solidFill>
                  <a:srgbClr val="214B8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These components established the dual-environment design and hyperparameter intuitions carried into the final LSTM-DQN and DQN implementations</a:t>
            </a:r>
            <a:endParaRPr b="1" i="1">
              <a:solidFill>
                <a:srgbClr val="214B8C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6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9428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14B8C"/>
              </a:buClr>
              <a:buSzPts val="3600"/>
              <a:buFont typeface="Times New Roman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Algorithms Implemented 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65" name="Google Shape;165;p6" title="Screenshot 2026-05-16 104841.png"/>
          <p:cNvPicPr preferRelativeResize="0"/>
          <p:nvPr/>
        </p:nvPicPr>
        <p:blipFill rotWithShape="1">
          <a:blip r:embed="rId3">
            <a:alphaModFix/>
          </a:blip>
          <a:srcRect l="1951"/>
          <a:stretch/>
        </p:blipFill>
        <p:spPr>
          <a:xfrm>
            <a:off x="603625" y="1201350"/>
            <a:ext cx="3390025" cy="2162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6" name="Google Shape;166;p6" title="Screenshot 2026-05-16 104940.png"/>
          <p:cNvPicPr preferRelativeResize="0"/>
          <p:nvPr/>
        </p:nvPicPr>
        <p:blipFill rotWithShape="1">
          <a:blip r:embed="rId4">
            <a:alphaModFix/>
          </a:blip>
          <a:srcRect l="1283"/>
          <a:stretch/>
        </p:blipFill>
        <p:spPr>
          <a:xfrm>
            <a:off x="4385975" y="1210875"/>
            <a:ext cx="3431775" cy="2143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7" name="Google Shape;167;p6" title="Screenshot 2026-05-16 105049.png"/>
          <p:cNvPicPr preferRelativeResize="0"/>
          <p:nvPr/>
        </p:nvPicPr>
        <p:blipFill rotWithShape="1">
          <a:blip r:embed="rId5">
            <a:alphaModFix/>
          </a:blip>
          <a:srcRect l="1293"/>
          <a:stretch/>
        </p:blipFill>
        <p:spPr>
          <a:xfrm>
            <a:off x="8210075" y="1201350"/>
            <a:ext cx="3431775" cy="2105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8" name="Google Shape;168;p6" title="Screenshot 2026-05-16 105208.png"/>
          <p:cNvPicPr preferRelativeResize="0"/>
          <p:nvPr/>
        </p:nvPicPr>
        <p:blipFill rotWithShape="1">
          <a:blip r:embed="rId6">
            <a:alphaModFix/>
          </a:blip>
          <a:srcRect l="2487"/>
          <a:stretch/>
        </p:blipFill>
        <p:spPr>
          <a:xfrm>
            <a:off x="603625" y="3306375"/>
            <a:ext cx="3390025" cy="2152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9" name="Google Shape;169;p6" title="Screenshot 2026-05-16 105306.png"/>
          <p:cNvPicPr preferRelativeResize="0"/>
          <p:nvPr/>
        </p:nvPicPr>
        <p:blipFill rotWithShape="1">
          <a:blip r:embed="rId7">
            <a:alphaModFix/>
          </a:blip>
          <a:srcRect l="1999"/>
          <a:stretch/>
        </p:blipFill>
        <p:spPr>
          <a:xfrm>
            <a:off x="4478650" y="3320650"/>
            <a:ext cx="3313900" cy="2124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0" name="Google Shape;170;p6" title="Screenshot 2026-05-16 105431.png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8059075" y="3306375"/>
            <a:ext cx="3733800" cy="2105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g3e276a416aa_1_18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9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14B8C"/>
              </a:buClr>
              <a:buSzPct val="100000"/>
              <a:buFont typeface="Times New Roman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Results - All 5 Algorithms vs Random Baseline ($13.49M)</a:t>
            </a:r>
            <a:endParaRPr/>
          </a:p>
        </p:txBody>
      </p:sp>
      <p:pic>
        <p:nvPicPr>
          <p:cNvPr id="177" name="Google Shape;177;g3e276a416aa_1_18" title="Screenshot 2026-05-16 105834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900" y="1230200"/>
            <a:ext cx="6407625" cy="44808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78" name="Google Shape;178;g3e276a416aa_1_18" title="Screenshot 2026-05-16 10594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489350" y="1204901"/>
            <a:ext cx="4152900" cy="4448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g3e276a416aa_1_32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9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14B8C"/>
              </a:buClr>
              <a:buSzPts val="3600"/>
              <a:buFont typeface="Times New Roman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Stockout Analysis - A Critical Business KPI</a:t>
            </a:r>
            <a:endParaRPr/>
          </a:p>
        </p:txBody>
      </p:sp>
      <p:pic>
        <p:nvPicPr>
          <p:cNvPr id="185" name="Google Shape;185;g3e276a416aa_1_32" title="Screenshot 2026-05-16 110228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41600" y="1268625"/>
            <a:ext cx="6384875" cy="4493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6" name="Google Shape;186;g3e276a416aa_1_32" title="Screenshot 2026-05-16 11031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341925" y="1181101"/>
            <a:ext cx="4095750" cy="4495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3e276a416aa_1_41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9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14B8C"/>
              </a:buClr>
              <a:buSzPts val="3600"/>
              <a:buFont typeface="Times New Roman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Training Efficiency - Performance vs Compute</a:t>
            </a:r>
            <a:endParaRPr/>
          </a:p>
        </p:txBody>
      </p:sp>
      <p:pic>
        <p:nvPicPr>
          <p:cNvPr id="193" name="Google Shape;193;g3e276a416aa_1_41" title="Screenshot 2026-05-16 110620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509625" y="1211026"/>
            <a:ext cx="4019550" cy="3333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4" name="Google Shape;194;g3e276a416aa_1_41" title="Screenshot 2026-05-16 110703.png"/>
          <p:cNvPicPr preferRelativeResize="0"/>
          <p:nvPr/>
        </p:nvPicPr>
        <p:blipFill rotWithShape="1">
          <a:blip r:embed="rId4">
            <a:alphaModFix/>
          </a:blip>
          <a:srcRect t="11785" b="11192"/>
          <a:stretch/>
        </p:blipFill>
        <p:spPr>
          <a:xfrm>
            <a:off x="7509625" y="4745300"/>
            <a:ext cx="4019550" cy="748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5" name="Google Shape;195;g3e276a416aa_1_41" title="Screenshot 2026-05-16 110836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92200" y="1211026"/>
            <a:ext cx="6543675" cy="4638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3e276a416aa_1_26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9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14B8C"/>
              </a:buClr>
              <a:buSzPts val="3600"/>
              <a:buFont typeface="Times New Roman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Key Insights</a:t>
            </a:r>
            <a:endParaRPr/>
          </a:p>
        </p:txBody>
      </p:sp>
      <p:sp>
        <p:nvSpPr>
          <p:cNvPr id="201" name="Google Shape;201;g3e276a416aa_1_26"/>
          <p:cNvSpPr txBox="1">
            <a:spLocks noGrp="1"/>
          </p:cNvSpPr>
          <p:nvPr>
            <p:ph type="body" idx="1"/>
          </p:nvPr>
        </p:nvSpPr>
        <p:spPr>
          <a:xfrm>
            <a:off x="838200" y="1447000"/>
            <a:ext cx="4647600" cy="1871400"/>
          </a:xfrm>
          <a:prstGeom prst="rect">
            <a:avLst/>
          </a:prstGeom>
          <a:solidFill>
            <a:srgbClr val="CFE2F3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28600" lvl="0" indent="-1905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 sz="1800" b="1">
                <a:latin typeface="Times New Roman"/>
                <a:ea typeface="Times New Roman"/>
                <a:cs typeface="Times New Roman"/>
                <a:sym typeface="Times New Roman"/>
              </a:rPr>
              <a:t>Q-Learning is surprisingly competitive:</a:t>
            </a:r>
            <a:endParaRPr sz="1800" b="1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2860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49%  profit improvement with a simple 63 state table trained in 30 seconds. For moderate problem sizes, discrete state discretization works extremely well - neural overhead isn’t always justified.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3" name="Google Shape;203;g3e276a416aa_1_26"/>
          <p:cNvSpPr txBox="1">
            <a:spLocks noGrp="1"/>
          </p:cNvSpPr>
          <p:nvPr>
            <p:ph type="body" idx="1"/>
          </p:nvPr>
        </p:nvSpPr>
        <p:spPr>
          <a:xfrm>
            <a:off x="6533850" y="1447000"/>
            <a:ext cx="4647600" cy="1871400"/>
          </a:xfrm>
          <a:prstGeom prst="rect">
            <a:avLst/>
          </a:prstGeom>
          <a:solidFill>
            <a:srgbClr val="D9D2E9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28600" lvl="0" indent="-1905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 sz="1800" b="1">
                <a:latin typeface="Times New Roman"/>
                <a:ea typeface="Times New Roman"/>
                <a:cs typeface="Times New Roman"/>
                <a:sym typeface="Times New Roman"/>
              </a:rPr>
              <a:t>LSTM Memory != Profit, But it kills Stockouts:</a:t>
            </a:r>
            <a:endParaRPr sz="1800" b="1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2860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LSTM-DQN leads by only $310K(1.3%) over DQN, yet delivers 10x fewer stockouts (291 vs 3,387). In production, stockout prevention is often worth more than marginal profit gains.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4" name="Google Shape;204;g3e276a416aa_1_26"/>
          <p:cNvSpPr txBox="1">
            <a:spLocks noGrp="1"/>
          </p:cNvSpPr>
          <p:nvPr>
            <p:ph type="body" idx="1"/>
          </p:nvPr>
        </p:nvSpPr>
        <p:spPr>
          <a:xfrm>
            <a:off x="942650" y="3594450"/>
            <a:ext cx="4647600" cy="1744500"/>
          </a:xfrm>
          <a:prstGeom prst="rect">
            <a:avLst/>
          </a:prstGeom>
          <a:solidFill>
            <a:srgbClr val="EAD1DC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28600" lvl="0" indent="-1905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 sz="1800" b="1">
                <a:latin typeface="Times New Roman"/>
                <a:ea typeface="Times New Roman"/>
                <a:cs typeface="Times New Roman"/>
                <a:sym typeface="Times New Roman"/>
              </a:rPr>
              <a:t>Value-based beats Policy-based here:</a:t>
            </a:r>
            <a:endParaRPr sz="1800" b="1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2860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All three value-based methods outperform PPO. Discrete, small action spaces strongly favour value methods - they are more sample efficient and converge faster without reward signal normalisation.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5" name="Google Shape;205;g3e276a416aa_1_26"/>
          <p:cNvSpPr txBox="1">
            <a:spLocks noGrp="1"/>
          </p:cNvSpPr>
          <p:nvPr>
            <p:ph type="body" idx="1"/>
          </p:nvPr>
        </p:nvSpPr>
        <p:spPr>
          <a:xfrm>
            <a:off x="6533850" y="3641350"/>
            <a:ext cx="4647600" cy="1744500"/>
          </a:xfrm>
          <a:prstGeom prst="rect">
            <a:avLst/>
          </a:prstGeom>
          <a:solidFill>
            <a:srgbClr val="C9DAF8"/>
          </a:solidFill>
          <a:ln>
            <a:noFill/>
          </a:ln>
        </p:spPr>
        <p:txBody>
          <a:bodyPr spcFirstLastPara="1" wrap="square" lIns="91425" tIns="45700" rIns="91425" bIns="45700" anchor="t" anchorCtr="0">
            <a:normAutofit fontScale="77500" lnSpcReduction="20000"/>
          </a:bodyPr>
          <a:lstStyle/>
          <a:p>
            <a:pPr marL="228600" lvl="0" indent="-189389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 sz="2300" b="1">
                <a:latin typeface="Times New Roman"/>
                <a:ea typeface="Times New Roman"/>
                <a:cs typeface="Times New Roman"/>
                <a:sym typeface="Times New Roman"/>
              </a:rPr>
              <a:t>State Representation is Mission Critical:</a:t>
            </a:r>
            <a:endParaRPr sz="2300" b="1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2860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00">
                <a:latin typeface="Times New Roman"/>
                <a:ea typeface="Times New Roman"/>
                <a:cs typeface="Times New Roman"/>
                <a:sym typeface="Times New Roman"/>
              </a:rPr>
              <a:t>Encoding lead time naively violates the Markov property. Q-Lead earns -$65K on 1,127 days vs $20-22M for correct formulations. A bad state representation guarantees a bad policy -  no algorithm can fix it.</a:t>
            </a:r>
            <a:r>
              <a:rPr lang="en-US" sz="2400" b="1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400" b="1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g3e276a416aa_1_56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9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14B8C"/>
              </a:buClr>
              <a:buSzPts val="3600"/>
              <a:buFont typeface="Times New Roman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Recommendations &amp; Future Work</a:t>
            </a:r>
            <a:endParaRPr/>
          </a:p>
        </p:txBody>
      </p:sp>
      <p:sp>
        <p:nvSpPr>
          <p:cNvPr id="211" name="Google Shape;211;g3e276a416aa_1_56"/>
          <p:cNvSpPr txBox="1">
            <a:spLocks noGrp="1"/>
          </p:cNvSpPr>
          <p:nvPr>
            <p:ph type="body" idx="1"/>
          </p:nvPr>
        </p:nvSpPr>
        <p:spPr>
          <a:xfrm>
            <a:off x="838200" y="1447000"/>
            <a:ext cx="4647600" cy="44931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28600" lvl="0" indent="-1905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 sz="1800" b="1">
                <a:latin typeface="Times New Roman"/>
                <a:ea typeface="Times New Roman"/>
                <a:cs typeface="Times New Roman"/>
                <a:sym typeface="Times New Roman"/>
              </a:rPr>
              <a:t>Deployment Recommendations:</a:t>
            </a:r>
            <a:br>
              <a:rPr lang="en-US" sz="1800" b="1"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1800" b="1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685800" lvl="1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Font typeface="Times New Roman"/>
              <a:buChar char="•"/>
            </a:pPr>
            <a:r>
              <a:rPr lang="en-US" sz="1800" b="1">
                <a:latin typeface="Times New Roman"/>
                <a:ea typeface="Times New Roman"/>
                <a:cs typeface="Times New Roman"/>
                <a:sym typeface="Times New Roman"/>
              </a:rPr>
              <a:t>Max Performance: </a:t>
            </a:r>
            <a:br>
              <a:rPr lang="en-US" sz="1800" b="1"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LSTM-DQN – best performance + fewest stockouts.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685800" lvl="1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Font typeface="Times New Roman"/>
              <a:buChar char="•"/>
            </a:pPr>
            <a:r>
              <a:rPr lang="en-US" sz="1800" b="1">
                <a:latin typeface="Times New Roman"/>
                <a:ea typeface="Times New Roman"/>
                <a:cs typeface="Times New Roman"/>
                <a:sym typeface="Times New Roman"/>
              </a:rPr>
              <a:t>Speed + Quality:</a:t>
            </a:r>
            <a:endParaRPr sz="1800" b="1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68580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Q-Learning – 49% uplift, 30 second training.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685800" lvl="1" indent="-228600" algn="l" rtl="0">
              <a:spcBef>
                <a:spcPts val="0"/>
              </a:spcBef>
              <a:spcAft>
                <a:spcPts val="0"/>
              </a:spcAft>
              <a:buSzPts val="1800"/>
              <a:buFont typeface="Times New Roman"/>
              <a:buChar char="•"/>
            </a:pPr>
            <a:r>
              <a:rPr lang="en-US" sz="1800" b="1">
                <a:latin typeface="Times New Roman"/>
                <a:ea typeface="Times New Roman"/>
                <a:cs typeface="Times New Roman"/>
                <a:sym typeface="Times New Roman"/>
              </a:rPr>
              <a:t>Explainability:</a:t>
            </a:r>
            <a:endParaRPr sz="1800" b="1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68580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Q-Learning – Q-table interpretable by business.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685800" lvl="1" indent="-228600" algn="l" rtl="0">
              <a:spcBef>
                <a:spcPts val="0"/>
              </a:spcBef>
              <a:spcAft>
                <a:spcPts val="0"/>
              </a:spcAft>
              <a:buSzPts val="1800"/>
              <a:buFont typeface="Times New Roman"/>
              <a:buChar char="•"/>
            </a:pPr>
            <a:r>
              <a:rPr lang="en-US" sz="1800" b="1">
                <a:latin typeface="Times New Roman"/>
                <a:ea typeface="Times New Roman"/>
                <a:cs typeface="Times New Roman"/>
                <a:sym typeface="Times New Roman"/>
              </a:rPr>
              <a:t>Research Baseline:</a:t>
            </a:r>
            <a:endParaRPr sz="1800" b="1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68580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PPO – actor-critic architecture for policy studies.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685800" lvl="1" indent="-228600" algn="l" rtl="0">
              <a:spcBef>
                <a:spcPts val="0"/>
              </a:spcBef>
              <a:spcAft>
                <a:spcPts val="0"/>
              </a:spcAft>
              <a:buSzPts val="1800"/>
              <a:buFont typeface="Times New Roman"/>
              <a:buChar char="•"/>
            </a:pPr>
            <a:r>
              <a:rPr lang="en-US" sz="1800" b="1">
                <a:latin typeface="Times New Roman"/>
                <a:ea typeface="Times New Roman"/>
                <a:cs typeface="Times New Roman"/>
                <a:sym typeface="Times New Roman"/>
              </a:rPr>
              <a:t>Avoid entirely:</a:t>
            </a:r>
            <a:endParaRPr sz="1800" b="1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68580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Q-Lead – Markov violation guarantees failure.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13" name="Google Shape;213;g3e276a416aa_1_56" title="Screenshot 2026-05-16 113720.png"/>
          <p:cNvPicPr preferRelativeResize="0"/>
          <p:nvPr/>
        </p:nvPicPr>
        <p:blipFill rotWithShape="1">
          <a:blip r:embed="rId3">
            <a:alphaModFix/>
          </a:blip>
          <a:srcRect b="4379"/>
          <a:stretch/>
        </p:blipFill>
        <p:spPr>
          <a:xfrm>
            <a:off x="6543025" y="1308025"/>
            <a:ext cx="4217850" cy="4493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g3e276a416aa_1_127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9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14B8C"/>
              </a:buClr>
              <a:buSzPts val="3600"/>
              <a:buFont typeface="Times New Roman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Conclusion</a:t>
            </a:r>
            <a:endParaRPr/>
          </a:p>
        </p:txBody>
      </p:sp>
      <p:sp>
        <p:nvSpPr>
          <p:cNvPr id="220" name="Google Shape;220;g3e276a416aa_1_127"/>
          <p:cNvSpPr txBox="1"/>
          <p:nvPr/>
        </p:nvSpPr>
        <p:spPr>
          <a:xfrm>
            <a:off x="951850" y="1280375"/>
            <a:ext cx="2089800" cy="1049700"/>
          </a:xfrm>
          <a:prstGeom prst="rect">
            <a:avLst/>
          </a:prstGeom>
          <a:solidFill>
            <a:srgbClr val="CFE2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68.9%</a:t>
            </a:r>
            <a:endParaRPr sz="4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21" name="Google Shape;221;g3e276a416aa_1_127"/>
          <p:cNvSpPr txBox="1"/>
          <p:nvPr/>
        </p:nvSpPr>
        <p:spPr>
          <a:xfrm>
            <a:off x="951850" y="2406563"/>
            <a:ext cx="2089800" cy="1049700"/>
          </a:xfrm>
          <a:prstGeom prst="rect">
            <a:avLst/>
          </a:prstGeom>
          <a:solidFill>
            <a:srgbClr val="CFE2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10x</a:t>
            </a:r>
            <a:endParaRPr sz="4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22" name="Google Shape;222;g3e276a416aa_1_127"/>
          <p:cNvSpPr txBox="1"/>
          <p:nvPr/>
        </p:nvSpPr>
        <p:spPr>
          <a:xfrm>
            <a:off x="951850" y="3532775"/>
            <a:ext cx="2089800" cy="1049700"/>
          </a:xfrm>
          <a:prstGeom prst="rect">
            <a:avLst/>
          </a:prstGeom>
          <a:solidFill>
            <a:srgbClr val="CFE2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30sec</a:t>
            </a:r>
            <a:endParaRPr sz="4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23" name="Google Shape;223;g3e276a416aa_1_127"/>
          <p:cNvSpPr txBox="1"/>
          <p:nvPr/>
        </p:nvSpPr>
        <p:spPr>
          <a:xfrm>
            <a:off x="951850" y="4658975"/>
            <a:ext cx="2089800" cy="1049700"/>
          </a:xfrm>
          <a:prstGeom prst="rect">
            <a:avLst/>
          </a:prstGeom>
          <a:solidFill>
            <a:srgbClr val="CFE2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-100%</a:t>
            </a:r>
            <a:endParaRPr sz="4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24" name="Google Shape;224;g3e276a416aa_1_127"/>
          <p:cNvSpPr txBox="1"/>
          <p:nvPr/>
        </p:nvSpPr>
        <p:spPr>
          <a:xfrm>
            <a:off x="3242500" y="1280375"/>
            <a:ext cx="8111400" cy="1049700"/>
          </a:xfrm>
          <a:prstGeom prst="rect">
            <a:avLst/>
          </a:prstGeom>
          <a:solidFill>
            <a:srgbClr val="D9D2E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profit improvement by LSTM-DQN over random policy</a:t>
            </a:r>
            <a:endParaRPr sz="2500" i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25" name="Google Shape;225;g3e276a416aa_1_127"/>
          <p:cNvSpPr txBox="1"/>
          <p:nvPr/>
        </p:nvSpPr>
        <p:spPr>
          <a:xfrm>
            <a:off x="3242500" y="2406575"/>
            <a:ext cx="8111400" cy="1049700"/>
          </a:xfrm>
          <a:prstGeom prst="rect">
            <a:avLst/>
          </a:prstGeom>
          <a:solidFill>
            <a:srgbClr val="D9D2E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fewer stockouts with LSTM vs standard DQN(291 vs 3,387)</a:t>
            </a:r>
            <a:endParaRPr sz="2500" i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26" name="Google Shape;226;g3e276a416aa_1_127"/>
          <p:cNvSpPr txBox="1"/>
          <p:nvPr/>
        </p:nvSpPr>
        <p:spPr>
          <a:xfrm>
            <a:off x="3242500" y="3532775"/>
            <a:ext cx="8111400" cy="1049700"/>
          </a:xfrm>
          <a:prstGeom prst="rect">
            <a:avLst/>
          </a:prstGeom>
          <a:solidFill>
            <a:srgbClr val="D9D2E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Q-Learning training – matches PPO’s profit at 100x lower cost</a:t>
            </a:r>
            <a:endParaRPr sz="2500" i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27" name="Google Shape;227;g3e276a416aa_1_127"/>
          <p:cNvSpPr txBox="1"/>
          <p:nvPr/>
        </p:nvSpPr>
        <p:spPr>
          <a:xfrm>
            <a:off x="3242500" y="4658975"/>
            <a:ext cx="8111400" cy="1049700"/>
          </a:xfrm>
          <a:prstGeom prst="rect">
            <a:avLst/>
          </a:prstGeom>
          <a:solidFill>
            <a:srgbClr val="D9D2E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profit collapse from a single Markov property violation(Q-Lead)</a:t>
            </a:r>
            <a:endParaRPr sz="2500" i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7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9428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14B8C"/>
              </a:buClr>
              <a:buSzPts val="3600"/>
              <a:buFont typeface="Times New Roman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References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33" name="Google Shape;233;p7"/>
          <p:cNvSpPr txBox="1">
            <a:spLocks noGrp="1"/>
          </p:cNvSpPr>
          <p:nvPr>
            <p:ph type="body" idx="1"/>
          </p:nvPr>
        </p:nvSpPr>
        <p:spPr>
          <a:xfrm>
            <a:off x="838200" y="1231776"/>
            <a:ext cx="10955700" cy="490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lnSpcReduction="2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[1] Stranieri, F. &amp; Stella, F. (2022). </a:t>
            </a:r>
            <a:r>
              <a:rPr lang="en-US" sz="2000" i="1">
                <a:latin typeface="Times New Roman"/>
                <a:ea typeface="Times New Roman"/>
                <a:cs typeface="Times New Roman"/>
                <a:sym typeface="Times New Roman"/>
              </a:rPr>
              <a:t>A Deep Reinforcement Learning Approach to Supply Chain Inventory Management.</a:t>
            </a: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 arXiv:2204.09603. 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[2] Hubbs, C.D. et al. (2020). </a:t>
            </a:r>
            <a:r>
              <a:rPr lang="en-US" sz="2000" i="1">
                <a:latin typeface="Times New Roman"/>
                <a:ea typeface="Times New Roman"/>
                <a:cs typeface="Times New Roman"/>
                <a:sym typeface="Times New Roman"/>
              </a:rPr>
              <a:t>OR-Gym: A Reinforcement Learning Library for Operations Research Problems.</a:t>
            </a: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 arXiv:2008.06319.</a:t>
            </a:r>
            <a:r>
              <a:rPr lang="en-US" sz="1100"/>
              <a:t> 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[3] Boute, R.N. et al. (2021). </a:t>
            </a:r>
            <a:r>
              <a:rPr lang="en-US" sz="2000" i="1">
                <a:latin typeface="Times New Roman"/>
                <a:ea typeface="Times New Roman"/>
                <a:cs typeface="Times New Roman"/>
                <a:sym typeface="Times New Roman"/>
              </a:rPr>
              <a:t>Deep Reinforcement Learning for Inventory Optimization: A Roadmap.</a:t>
            </a: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 European Journal of Operational Research. 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[4] DataCo Supply Chain Dataset — Constante, F. et al. (2019). </a:t>
            </a:r>
            <a:r>
              <a:rPr lang="en-US" sz="2000" i="1">
                <a:latin typeface="Times New Roman"/>
                <a:ea typeface="Times New Roman"/>
                <a:cs typeface="Times New Roman"/>
                <a:sym typeface="Times New Roman"/>
              </a:rPr>
              <a:t>DataCo Smart Supply Chain for Big Data Analysis.</a:t>
            </a: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 Mendeley Data. 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[5] Hausknecht, M. &amp; Stone, P. (2015). </a:t>
            </a:r>
            <a:r>
              <a:rPr lang="en-US" sz="2000" i="1">
                <a:latin typeface="Times New Roman"/>
                <a:ea typeface="Times New Roman"/>
                <a:cs typeface="Times New Roman"/>
                <a:sym typeface="Times New Roman"/>
              </a:rPr>
              <a:t>Deep Recurrent Q-Learning for Partially Observable MDPs.</a:t>
            </a: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 arXiv:1507.06527. </a:t>
            </a:r>
            <a:r>
              <a:rPr lang="en-US" sz="2000" i="1">
                <a:latin typeface="Times New Roman"/>
                <a:ea typeface="Times New Roman"/>
                <a:cs typeface="Times New Roman"/>
                <a:sym typeface="Times New Roman"/>
              </a:rPr>
              <a:t>(LSTM-DQN)</a:t>
            </a: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[6] Mnih, V. et al. (2015). </a:t>
            </a:r>
            <a:r>
              <a:rPr lang="en-US" sz="2000" i="1">
                <a:latin typeface="Times New Roman"/>
                <a:ea typeface="Times New Roman"/>
                <a:cs typeface="Times New Roman"/>
                <a:sym typeface="Times New Roman"/>
              </a:rPr>
              <a:t>Human-level control through deep reinforcement learning.</a:t>
            </a: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 Nature, 518(7540), 529–533. </a:t>
            </a:r>
            <a:r>
              <a:rPr lang="en-US" sz="2000" i="1">
                <a:latin typeface="Times New Roman"/>
                <a:ea typeface="Times New Roman"/>
                <a:cs typeface="Times New Roman"/>
                <a:sym typeface="Times New Roman"/>
              </a:rPr>
              <a:t>(DQN)</a:t>
            </a: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[7] Schulman, J. et al. (2017). </a:t>
            </a:r>
            <a:r>
              <a:rPr lang="en-US" sz="2000" i="1">
                <a:latin typeface="Times New Roman"/>
                <a:ea typeface="Times New Roman"/>
                <a:cs typeface="Times New Roman"/>
                <a:sym typeface="Times New Roman"/>
              </a:rPr>
              <a:t>Proximal Policy Optimization Algorithms.</a:t>
            </a: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 arXiv:1707.06347. </a:t>
            </a:r>
            <a:r>
              <a:rPr lang="en-US" sz="2000" i="1">
                <a:latin typeface="Times New Roman"/>
                <a:ea typeface="Times New Roman"/>
                <a:cs typeface="Times New Roman"/>
                <a:sym typeface="Times New Roman"/>
              </a:rPr>
              <a:t>(PPO)</a:t>
            </a: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[8] Schulman, J. et al. (2015). </a:t>
            </a:r>
            <a:r>
              <a:rPr lang="en-US" sz="2000" i="1">
                <a:latin typeface="Times New Roman"/>
                <a:ea typeface="Times New Roman"/>
                <a:cs typeface="Times New Roman"/>
                <a:sym typeface="Times New Roman"/>
              </a:rPr>
              <a:t>High-Dimensional Continuous Control using Generalized Advantage Estimation.</a:t>
            </a: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 arXiv:1506.02438. </a:t>
            </a:r>
            <a:r>
              <a:rPr lang="en-US" sz="2000" i="1">
                <a:latin typeface="Times New Roman"/>
                <a:ea typeface="Times New Roman"/>
                <a:cs typeface="Times New Roman"/>
                <a:sym typeface="Times New Roman"/>
              </a:rPr>
              <a:t>(GAE-λ used in PPO)</a:t>
            </a: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1038</Words>
  <Application>Microsoft Office PowerPoint</Application>
  <PresentationFormat>Widescreen</PresentationFormat>
  <Paragraphs>87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5" baseType="lpstr">
      <vt:lpstr>Arial</vt:lpstr>
      <vt:lpstr>Bookman Old Style</vt:lpstr>
      <vt:lpstr>Calibri</vt:lpstr>
      <vt:lpstr>Times New Roman</vt:lpstr>
      <vt:lpstr>Office Theme</vt:lpstr>
      <vt:lpstr>Supply Chain Inventory Management using Deep RL</vt:lpstr>
      <vt:lpstr>Problem Statement</vt:lpstr>
      <vt:lpstr>Existing Approaches - Classical &amp; RL Methods </vt:lpstr>
      <vt:lpstr>Existing Approaches - Classical &amp; RL Methods </vt:lpstr>
      <vt:lpstr>Gap in Literature and Our Contribution</vt:lpstr>
      <vt:lpstr>MDP Formulation - State, Action, Reward</vt:lpstr>
      <vt:lpstr>Early Implementations &amp; Exploratory Work</vt:lpstr>
      <vt:lpstr>Environment Design: Discrete vs Continuous</vt:lpstr>
      <vt:lpstr>TD(0) State-Value Estimator &amp; Epsilon-Greedy Exploration</vt:lpstr>
      <vt:lpstr>Linear Regression - Supervised Demand Forecasting Baseline</vt:lpstr>
      <vt:lpstr>PPO - Early Implementation</vt:lpstr>
      <vt:lpstr>Early Implementation Component Comparison</vt:lpstr>
      <vt:lpstr>Algorithms Implemented </vt:lpstr>
      <vt:lpstr>Results - All 5 Algorithms vs Random Baseline ($13.49M)</vt:lpstr>
      <vt:lpstr>Stockout Analysis - A Critical Business KPI</vt:lpstr>
      <vt:lpstr>Training Efficiency - Performance vs Compute</vt:lpstr>
      <vt:lpstr>Key Insights</vt:lpstr>
      <vt:lpstr>Recommendations &amp; Future Work</vt:lpstr>
      <vt:lpstr>Conclusion</vt:lpstr>
      <vt:lpstr>References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Microsoft Office User</dc:creator>
  <cp:lastModifiedBy>Deetya Mehta</cp:lastModifiedBy>
  <cp:revision>1</cp:revision>
  <dcterms:created xsi:type="dcterms:W3CDTF">2016-10-19T11:41:00Z</dcterms:created>
  <dcterms:modified xsi:type="dcterms:W3CDTF">2026-05-18T04:47:31Z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C108E57BB6B2489282E5AF568B94319C_13</vt:lpwstr>
  </property>
  <property fmtid="{D5CDD505-2E9C-101B-9397-08002B2CF9AE}" pid="3" name="KSOProductBuildVer">
    <vt:lpwstr>1033-12.2.0.20326</vt:lpwstr>
  </property>
</Properties>
</file>